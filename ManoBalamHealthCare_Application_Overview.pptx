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71f4e46b544dc" /><Relationship Type="http://schemas.openxmlformats.org/officeDocument/2006/relationships/extended-properties" Target="/docProps/app.xml" Id="R5fd0d41656094d4f" /><Relationship Type="http://schemas.openxmlformats.org/officeDocument/2006/relationships/officeDocument" Target="/ppt/presentation.xml" Id="R79d41d3d5a2246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f9b1f78e5343c7"/>
  </p:sldMasterIdLst>
  <p:notesMasterIdLst>
    <p:notesMasterId xmlns:r="http://schemas.openxmlformats.org/officeDocument/2006/relationships" r:id="R42491b0d4a4140f0"/>
  </p:notesMasterIdLst>
  <p:sldIdLst>
    <p:sldId xmlns:r="http://schemas.openxmlformats.org/officeDocument/2006/relationships" id="256" r:id="R75386c43406f4d82"/>
    <p:sldId xmlns:r="http://schemas.openxmlformats.org/officeDocument/2006/relationships" id="257" r:id="Raedd60b947fe4b5d"/>
    <p:sldId xmlns:r="http://schemas.openxmlformats.org/officeDocument/2006/relationships" id="258" r:id="R17a06682b0d14c3b"/>
    <p:sldId xmlns:r="http://schemas.openxmlformats.org/officeDocument/2006/relationships" id="259" r:id="R3a4595b81b21414e"/>
    <p:sldId xmlns:r="http://schemas.openxmlformats.org/officeDocument/2006/relationships" id="260" r:id="R7cca4a7b11794012"/>
    <p:sldId xmlns:r="http://schemas.openxmlformats.org/officeDocument/2006/relationships" id="261" r:id="R17a7d0566d0e432a"/>
    <p:sldId xmlns:r="http://schemas.openxmlformats.org/officeDocument/2006/relationships" id="262" r:id="R2bbeaaec734042ba"/>
    <p:sldId xmlns:r="http://schemas.openxmlformats.org/officeDocument/2006/relationships" id="263" r:id="R2e6e39e04bf44d87"/>
    <p:sldId xmlns:r="http://schemas.openxmlformats.org/officeDocument/2006/relationships" id="264" r:id="R9d2c5749a5ec4b9c"/>
    <p:sldId xmlns:r="http://schemas.openxmlformats.org/officeDocument/2006/relationships" id="265" r:id="R0f0e23ed6c764e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6e267583b44ce" /><Relationship Type="http://schemas.openxmlformats.org/officeDocument/2006/relationships/slideMaster" Target="/ppt/slideMasters/slideMaster1.xml" Id="R91f9b1f78e5343c7" /><Relationship Type="http://schemas.openxmlformats.org/officeDocument/2006/relationships/notesMaster" Target="/ppt/notesMasters/notesMaster1.xml" Id="R42491b0d4a4140f0" /><Relationship Type="http://schemas.openxmlformats.org/officeDocument/2006/relationships/presProps" Target="/ppt/presProps.xml" Id="R40ab2fc37bad4d22" /><Relationship Type="http://schemas.openxmlformats.org/officeDocument/2006/relationships/tableStyles" Target="/ppt/tableStyles.xml" Id="R1e727801838142d6" /><Relationship Type="http://schemas.openxmlformats.org/officeDocument/2006/relationships/slide" Target="/ppt/slides/slide1.xml" Id="R75386c43406f4d82" /><Relationship Type="http://schemas.openxmlformats.org/officeDocument/2006/relationships/slide" Target="/ppt/slides/slide2.xml" Id="Raedd60b947fe4b5d" /><Relationship Type="http://schemas.openxmlformats.org/officeDocument/2006/relationships/slide" Target="/ppt/slides/slide3.xml" Id="R17a06682b0d14c3b" /><Relationship Type="http://schemas.openxmlformats.org/officeDocument/2006/relationships/slide" Target="/ppt/slides/slide4.xml" Id="R3a4595b81b21414e" /><Relationship Type="http://schemas.openxmlformats.org/officeDocument/2006/relationships/slide" Target="/ppt/slides/slide5.xml" Id="R7cca4a7b11794012" /><Relationship Type="http://schemas.openxmlformats.org/officeDocument/2006/relationships/slide" Target="/ppt/slides/slide6.xml" Id="R17a7d0566d0e432a" /><Relationship Type="http://schemas.openxmlformats.org/officeDocument/2006/relationships/slide" Target="/ppt/slides/slide7.xml" Id="R2bbeaaec734042ba" /><Relationship Type="http://schemas.openxmlformats.org/officeDocument/2006/relationships/slide" Target="/ppt/slides/slide8.xml" Id="R2e6e39e04bf44d87" /><Relationship Type="http://schemas.openxmlformats.org/officeDocument/2006/relationships/slide" Target="/ppt/slides/slide9.xml" Id="R9d2c5749a5ec4b9c" /><Relationship Type="http://schemas.openxmlformats.org/officeDocument/2006/relationships/slide" Target="/ppt/slides/slide10.xml" Id="R0f0e23ed6c76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c161ce979944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54f1d40ae64a45" /><Relationship Type="http://schemas.openxmlformats.org/officeDocument/2006/relationships/notesMaster" Target="/ppt/notesMasters/notesMaster1.xml" Id="R03b8dc802d0f4e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85a9f7ef3443c2" /><Relationship Type="http://schemas.openxmlformats.org/officeDocument/2006/relationships/notesMaster" Target="/ppt/notesMasters/notesMaster1.xml" Id="R84bc0fb5154647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043d8889d741de" /><Relationship Type="http://schemas.openxmlformats.org/officeDocument/2006/relationships/notesMaster" Target="/ppt/notesMasters/notesMaster1.xml" Id="R039a42f42f2f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02914d1974f5d" /><Relationship Type="http://schemas.openxmlformats.org/officeDocument/2006/relationships/notesMaster" Target="/ppt/notesMasters/notesMaster1.xml" Id="R9e680c82e312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72b230a9054910" /><Relationship Type="http://schemas.openxmlformats.org/officeDocument/2006/relationships/notesMaster" Target="/ppt/notesMasters/notesMaster1.xml" Id="R5340e3049797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adc14a281e4a82" /><Relationship Type="http://schemas.openxmlformats.org/officeDocument/2006/relationships/notesMaster" Target="/ppt/notesMasters/notesMaster1.xml" Id="Rbc336c0d1a6d41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b2553f731240a4" /><Relationship Type="http://schemas.openxmlformats.org/officeDocument/2006/relationships/notesMaster" Target="/ppt/notesMasters/notesMaster1.xml" Id="R9e16ed6f6a144e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b9c48612e410a" /><Relationship Type="http://schemas.openxmlformats.org/officeDocument/2006/relationships/notesMaster" Target="/ppt/notesMasters/notesMaster1.xml" Id="Rac0ed53fc7c549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8451f86eb44d92" /><Relationship Type="http://schemas.openxmlformats.org/officeDocument/2006/relationships/notesMaster" Target="/ppt/notesMasters/notesMaster1.xml" Id="R58de69c4c72f40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1d0684af1f47ac" /><Relationship Type="http://schemas.openxmlformats.org/officeDocument/2006/relationships/notesMaster" Target="/ppt/notesMasters/notesMaster1.xml" Id="R88533bf01e6f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Based on the local ManoBalamHealth repository architecture, feature folders, routes, and the project's AGENTS.md summary. No external claims or private environment values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ef22a9c444b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2de6a52c546ef" /><Relationship Type="http://schemas.openxmlformats.org/officeDocument/2006/relationships/slideLayout" Target="/ppt/slideLayouts/slideLayout1.xml" Id="Re501123ded0645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1123ded0645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3f247635e42dd" /><Relationship Type="http://schemas.openxmlformats.org/officeDocument/2006/relationships/notesSlide" Target="/ppt/notesSlides/notesSlide1.xml" Id="R3e71da8f7032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04f4ae9a94c0e" /><Relationship Type="http://schemas.openxmlformats.org/officeDocument/2006/relationships/notesSlide" Target="/ppt/notesSlides/notesSlide2.xml" Id="Ra6a0c4ecafd4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f89db0674705" /><Relationship Type="http://schemas.openxmlformats.org/officeDocument/2006/relationships/notesSlide" Target="/ppt/notesSlides/notesSlide3.xml" Id="Rc5fc449d48a746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ffd1719564b06" /><Relationship Type="http://schemas.openxmlformats.org/officeDocument/2006/relationships/notesSlide" Target="/ppt/notesSlides/notesSlide4.xml" Id="R0888431e1ead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2f2cb91f04e7f" /><Relationship Type="http://schemas.openxmlformats.org/officeDocument/2006/relationships/notesSlide" Target="/ppt/notesSlides/notesSlide5.xml" Id="R8a656db13e554a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b266dad544b0a" /><Relationship Type="http://schemas.openxmlformats.org/officeDocument/2006/relationships/notesSlide" Target="/ppt/notesSlides/notesSlide6.xml" Id="R8d79555707f246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a2a49eba548b7" /><Relationship Type="http://schemas.openxmlformats.org/officeDocument/2006/relationships/notesSlide" Target="/ppt/notesSlides/notesSlide7.xml" Id="R33628e97dbda46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f2ec52beb485c" /><Relationship Type="http://schemas.openxmlformats.org/officeDocument/2006/relationships/notesSlide" Target="/ppt/notesSlides/notesSlide8.xml" Id="Rb1af6d258c8d4a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a939bfc564a41" /><Relationship Type="http://schemas.openxmlformats.org/officeDocument/2006/relationships/notesSlide" Target="/ppt/notesSlides/notesSlide9.xml" Id="Ra38fcfdcdb3a46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a84c34dc54890" /><Relationship Type="http://schemas.openxmlformats.org/officeDocument/2006/relationships/notesSlide" Target="/ppt/notesSlides/notesSlide10.xml" Id="R447ad1ed08f1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332AC-8EE7-42A2-8C64-7DD222A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B8A48-5A75-4AA9-9747-55FCAE3E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CFB24-7F04-4D8D-810C-AE58A3A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MANOBALAMHEALTHCARE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2FE02-43DA-4536-ACB4-96223F5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81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631"/>
                </a:solidFill>
              </a:defRPr>
            </a:pPr>
            <a:r>
              <a:rPr sz="4050" b="1">
                <a:solidFill>
                  <a:srgbClr val="111631"/>
                </a:solidFill>
              </a:rPr>
              <a:t>How the platform connects care, operations, and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19C0B-8841-4486-9ADE-ECE927B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8B"/>
                </a:solidFill>
              </a:defRPr>
            </a:pPr>
            <a:r>
              <a:rPr sz="1725" b="0">
                <a:solidFill>
                  <a:srgbClr val="64748B"/>
                </a:solidFill>
              </a:rPr>
              <a:t>A simple explanation of the patient, psychologist, and admin experience — plus the invisible systems that make booking, payment, sessions, and reporting work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60A9C-FE5A-49AB-84D0-8DA9B9B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Mental-health teletherapy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9578F-D327-4A1B-83F1-58F0ED9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Razorpay payments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9F7A4-227F-4CC0-8A0E-CB59A9D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Role-based panels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3A80-6A0E-48E6-A575-B209E135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D28D9"/>
                </a:solidFill>
              </a:defRPr>
            </a:pPr>
            <a:r>
              <a:rPr sz="6750" b="1">
                <a:solidFill>
                  <a:srgbClr val="6D28D9"/>
                </a:solidFill>
              </a:rPr>
              <a:t>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3038F-F761-423A-9582-8D50826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1571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632A8-1B72-480D-B194-6ECBB717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695D3-6360-4D28-BA48-DCF3BD0A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F512EF8-97F8-47AC-9A04-0451DE1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PLATFORM MODEL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DB4039-EF9E-410A-8B7D-59ADABCD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Three roles share one care journey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A3F706-3734-4584-8F6A-6904345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application looks simple because each role sees only the decisions and tools they need.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57629-BE89-4BC2-A085-DE2EA5E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35721-364F-4EFA-A994-2E4C7B53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257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BEAF1-D513-468D-AA22-E2352769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03159-4E9D-496F-9B66-A8D0CF6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E4133-74FF-47BD-B91C-CE84278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Registers, completes assessments, books/joins care, pays securely, chats, attends sessions, and gives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6A1E6-B91E-4803-9D09-33F44D6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33625"/>
            <a:ext cx="3257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7CBE9-CC76-4DD3-9E1B-640AB35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812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4A82A-4004-481A-8EE8-2501E35F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62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Psychologist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C074F-313C-45E1-9C48-DD3780F3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952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Manages professional profile, availability, appointments, session delivery, notes, and payout readiness.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CD9BF-993D-423C-A9B1-214CD87E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257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D9326-123E-4DF6-A618-76E5A9DB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911AC-B5F3-4784-A2A6-03E6538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62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7F8B1-69D5-4F09-8F25-0A26267B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Controls verification, priorities, pricing, appointments, reports, payments, payouts, and platform quality.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50BCB-8735-4FDB-915C-B09A8B95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3238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Secure API + real-time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30335-72E6-4C24-9785-BD96D4DF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762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C9226-7A7B-4147-BF73-25A6F50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762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49D7E-5869-4E20-9440-29161FB4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72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C1D95"/>
                </a:solidFill>
              </a:defRPr>
            </a:pPr>
            <a:r>
              <a:rPr sz="1725" b="1">
                <a:solidFill>
                  <a:srgbClr val="4C1D95"/>
                </a:solidFill>
              </a:rPr>
              <a:t>The platform keeps care delivery coordinated while preserving role boundaries.</a:t>
            </a:r>
          </a:p>
        </p:txBody>
      </p:sp>
    </p:spTree>
    <p:extLst>
      <p:ext uri="{BB962C8B-B14F-4D97-AF65-F5344CB8AC3E}">
        <p14:creationId xmlns:p14="http://schemas.microsoft.com/office/powerpoint/2010/main" val="211757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DC7D12-943B-4CB0-AAAC-C231DED8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7DFA2-AAEC-4106-98CA-A454C879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1E9546C-F627-4F7C-8D33-34E26CEA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PATIENT EXPERIENCE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6837EF-65B5-4DB8-9D2D-3131352D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The patient path is guided, not crowded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F9A7B6-F841-4946-ABCC-C419366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 first-time user should understand what to do next without learning the backend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C4CBC-8977-4D6A-BD73-29E2F48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EA32E-F5EF-4FDF-A1CF-98696ABE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27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FBCBA-6EA3-410C-87E4-C636217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2E38E-A495-4702-BF69-944A4B81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90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631"/>
                </a:solidFill>
              </a:defRPr>
            </a:pPr>
            <a:r>
              <a:rPr sz="1725" b="1">
                <a:solidFill>
                  <a:srgbClr val="111631"/>
                </a:solidFill>
              </a:rPr>
              <a:t>Create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84ACB-5853-4E39-A52A-5803ED8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336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Patient signs in and lands in a protected patient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6C57D-F7AA-48A7-BFC3-3E48B51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7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9AAF9-3276-4117-BA0C-A2365E3E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3597F-9133-4F56-B6FC-E2DD4BD7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631"/>
                </a:solidFill>
              </a:defRPr>
            </a:pPr>
            <a:r>
              <a:rPr sz="1725" b="1">
                <a:solidFill>
                  <a:srgbClr val="111631"/>
                </a:solidFill>
              </a:rPr>
              <a:t>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DD4B2-9695-4A4F-8CCB-B785D7B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336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Questionnaires can guide care context and readiness.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70D16-B351-4EB2-B29B-0259CE1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27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B0AB9-D778-4A48-AD15-8CE7EC86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04699-1634-4EB6-95F3-06D67F1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631"/>
                </a:solidFill>
              </a:defRPr>
            </a:pPr>
            <a:r>
              <a:rPr sz="1725" b="1">
                <a:solidFill>
                  <a:srgbClr val="111631"/>
                </a:solidFill>
              </a:rPr>
              <a:t>Auto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87CB3-F2F1-409F-ADB3-3F1790BD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336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The system can assign a psychologist using admin priority and timing rules.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B2771-C9D8-41F6-B53C-ECCBF6B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27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B0322-41EF-4DEE-B17C-F58DAE6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495C0-FE71-4CFD-8A1D-B03578E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631"/>
                </a:solidFill>
              </a:defRPr>
            </a:pPr>
            <a:r>
              <a:rPr sz="1725" b="1">
                <a:solidFill>
                  <a:srgbClr val="111631"/>
                </a:solidFill>
              </a:rPr>
              <a:t>Payment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30310-CCB9-4259-BC4D-8F76DDAD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58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Patient completes Razorpay checkout before confirmed care 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93C19-1FEF-475D-AD38-865D4539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327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F7CFA-1A69-499D-AA58-E650E54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6E464-B904-41FF-95EF-065A59B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631"/>
                </a:solidFill>
              </a:defRPr>
            </a:pPr>
            <a:r>
              <a:rPr sz="1725" b="1">
                <a:solidFill>
                  <a:srgbClr val="111631"/>
                </a:solidFill>
              </a:rPr>
              <a:t>Session room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5E799-AE0C-4DCB-90CF-C003E6E8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958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Video, chat, presence, and emergency signals support the live session.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54DC0-B7D7-4532-A434-32B0DCC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27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E2AD66-32C0-459C-A504-1D8CF09E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31C3C-1001-4CD9-801D-13DC835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52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631"/>
                </a:solidFill>
              </a:defRPr>
            </a:pPr>
            <a:r>
              <a:rPr sz="1725" b="1">
                <a:solidFill>
                  <a:srgbClr val="111631"/>
                </a:solidFill>
              </a:rPr>
              <a:t>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BB5D2-95E1-4E0C-B8A8-940481B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958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Care feedback and history help close the appointment loop.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6FD565-B2B2-453B-8968-F9B6C4E9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860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FE039-1A57-4493-A1BC-33B63B00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860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48FF2F-8E67-403D-A98D-3985672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57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87FEB1-3A4C-40FB-A848-6438345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457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3919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53025-37A6-4510-88DF-89B3ED26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8ABAF-F6D4-4510-8FE0-C4BC0B2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9298C36-13B7-4DF2-963F-7F2E0C0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PSYCHOLOGIST PANEL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2523C5-2126-41B6-A062-2351965E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Psychologists need a calm operational workspace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64EE29-2957-4B00-8E87-748E556B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panel is strongest when clinical work, availability, appointments, and payouts are separated clearly.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14995-CB0B-4094-B049-AB1FBF99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7D1B8-3BFA-4631-8B9B-C4AF626C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Professional profile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identity, expertise,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389F9-80FE-43E6-80E9-393DBFD1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Availability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session timing + working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08867-155A-4156-AD7E-E44FDF0C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Appointments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upcoming, active,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CD9B7-0229-4E7E-9E3E-CB53C3FB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00500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Session delivery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video, chat, presence,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C0508-8B90-49C9-AFEA-6396579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2857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Earnings &amp; payout readiness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fees, completed sessions, bank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845C6-7B31-4BBA-AEBB-98A95D4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801AD-09C7-4B95-966F-D27A7E5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48AC8-DEBA-4CAC-A7C0-14C60661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19450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382AC-9236-4E64-83CC-0C06E2EF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43550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C1D95"/>
                </a:solidFill>
              </a:defRPr>
            </a:pPr>
            <a:r>
              <a:rPr sz="1650" b="1">
                <a:solidFill>
                  <a:srgbClr val="4C1D95"/>
                </a:solidFill>
              </a:rPr>
              <a:t>The UX job: reduce decision fatigue, surface urgent appointments, and keep profile/availability changes safe.</a:t>
            </a:r>
          </a:p>
        </p:txBody>
      </p:sp>
    </p:spTree>
    <p:extLst>
      <p:ext uri="{BB962C8B-B14F-4D97-AF65-F5344CB8AC3E}">
        <p14:creationId xmlns:p14="http://schemas.microsoft.com/office/powerpoint/2010/main" val="250413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8FAC3-271B-4E0E-B9B9-FAB5DDE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7A971-6EE3-4123-B892-F366EAB0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3320846-8AC8-4BD8-AAC9-780F99D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ADMIN PANEL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6EC848-CAD8-403C-AFED-56365C5A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The admin panel is the control room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62CDC3-5AA2-4B66-8E60-47732DF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Admin work is less about one screen and more about keeping the whole care network reliable.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7409A-18BE-428E-BD73-72E6EA4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DDA37-1111-42B2-BE32-4492002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3C4B3-12DA-42F8-91E5-6A66B7D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55821-891D-4DB6-9155-26AA918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Provider 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2CE11-47F0-4837-BF42-70E279D4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Verify psychologists, review status, set booking priority, and maintain accountability.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B43ED-DD7A-4CD3-927F-98B23828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65517-CF7D-4995-AB0E-C66EE3D0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B921C-A31A-413F-93FA-628DA5C5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Commercial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57219-98A9-452F-9EF2-F6FE6FD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Set individual or all-psychologist pricing, validate payments, monitor reports, and manage payout readiness.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E14C0-B086-4497-A361-7213B104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11DA4-063E-4BC0-8F48-8F20F3EC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2E7C0-2700-4605-8E8A-123A706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Care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99726-BC8C-4BD4-898F-31751577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Track appointment completion, schedule visibility, session activity, and support operational decisions.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E9051-FB91-441F-9F0C-2B2B376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762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A6431-D4D0-4E0A-B2C8-18E2CE3D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65D2C-C01A-497E-9DC6-56AD2E5C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338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Experience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6D7CE-41DE-4C1D-ADFC-EAC3AC1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24375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Use dashboards, filters, empty states, alerts, and summaries to make complex data understandable.</a:t>
            </a:r>
          </a:p>
        </p:txBody>
      </p:sp>
    </p:spTree>
    <p:extLst>
      <p:ext uri="{BB962C8B-B14F-4D97-AF65-F5344CB8AC3E}">
        <p14:creationId xmlns:p14="http://schemas.microsoft.com/office/powerpoint/2010/main" val="1300709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A0E92-F7D9-451E-8BA2-7E8BA1EB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D5030-6D1A-4957-BF68-991FCB2B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993D8E5-3404-433A-8D03-EC58E90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BOOKING LOGIC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26C516-FAA6-4F34-9D00-41688C0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Booking can be automatic while admin keeps control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ADE9AE-86D0-465D-BF6A-8C1B1802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clean patient experience depends on admin-configured priority, timing, and eligibility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93699-D804-4597-8B7E-A73F414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A7525-8A31-49D3-B1CC-368FE57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Patient requests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879EC-00AA-4D3A-A338-50B390D7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23184-EC96-4180-8432-8C80D36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190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Check schedule 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AAA5F-BD19-4393-8798-7A7D42EA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F07DB-BDE9-401D-8433-F666E36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2381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Rank psychologists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by admin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7570D-4D01-460F-8433-613C76D1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F4350-3F71-491F-B970-4D827AA7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0"/>
            <a:ext cx="8382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Auto assign best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CCB3F-EB96-43E5-9AAC-A5FF232C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29125"/>
            <a:ext cx="8724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FCC88-E73B-4EA1-8E66-91E27B4D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96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C1D95"/>
                </a:solidFill>
              </a:defRPr>
            </a:pPr>
            <a:r>
              <a:rPr sz="1575" b="1">
                <a:solidFill>
                  <a:srgbClr val="4C1D95"/>
                </a:solidFill>
              </a:rPr>
              <a:t>Patient sees a simpler flow. Admin decides whether manual schedule selection appears, which psychologists are eligible, and who should be assigned first.</a:t>
            </a:r>
          </a:p>
        </p:txBody>
      </p:sp>
    </p:spTree>
    <p:extLst>
      <p:ext uri="{BB962C8B-B14F-4D97-AF65-F5344CB8AC3E}">
        <p14:creationId xmlns:p14="http://schemas.microsoft.com/office/powerpoint/2010/main" val="1835173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0629C-DBDF-418F-9D69-88A39D4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6F49-FC94-4503-9914-875E1AE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4BFC0E4-473B-4B1D-BC69-0BCAF3C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PAYMENT FLOW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9E802C-ABC7-45FE-8199-E92CC1F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Payment and appointment status must agree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4D4DCA-21B6-4EAE-8452-29F16283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Razorpay is not just checkout; it is part of appointment confirmation, reporting, and payout calculations.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F87F3-F97C-4D21-8681-248D4817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86E0A-2CE7-45A1-A791-C22CBF16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66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Create payment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AC03B-7D24-4A47-B6F1-8350270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1EB85-BB61-4081-8C80-B5FE1967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2266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Razorpay 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F05A4-3BF9-4FB2-9819-F8201624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0A1D4-A108-4834-9B6F-C888870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33625"/>
            <a:ext cx="2266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Webhook verifies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7AAF8-7464-40F6-9F9F-760283E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43C57-0194-4765-975A-2254A55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2266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Appointment 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165E3-EC25-4E6D-9B86-2142776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811C1-1189-4EEF-975C-2AC9561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9525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0C428-FAF6-4792-9373-ADFDF2C1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63F19-AB7F-4927-974F-88E09F1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24350"/>
            <a:ext cx="836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Why bugs happen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B3344-8FB8-445B-B21A-A2D29F2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If fee source, appointment total, payment record, and admin reports do not use the same verified amount, dashboards and payouts drift.</a:t>
            </a:r>
          </a:p>
        </p:txBody>
      </p:sp>
    </p:spTree>
    <p:extLst>
      <p:ext uri="{BB962C8B-B14F-4D97-AF65-F5344CB8AC3E}">
        <p14:creationId xmlns:p14="http://schemas.microsoft.com/office/powerpoint/2010/main" val="391928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0E1B4-11AC-4EE4-AF88-39F0AFE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BF667-782E-4E04-A60E-A9E90D87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EE8AA6D-BA9D-452C-B76C-460DFF7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SESSION LIFECYCLE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12A836-4EC7-4A34-B4D0-01AC402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Live sessions add real-time complexity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0287EB-73AC-47CE-A250-96D2304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 therapy session is a workflow plus a live communication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4F7D9-41FD-4C61-868F-3682768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9C384-4957-452A-AD1D-FE53F2C4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Appointment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465A9-4B93-4253-B8F8-DA5F1AF5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CD5F7-CDFD-45ED-872B-4494F76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Reminder jobs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notify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5864D-2885-492D-95AD-9474185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2BD55-8709-401E-A657-DAD6DDD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Session room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opens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F2DE0-EC2C-4AB8-9329-1756F33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13FD4-963F-4303-BE3E-67D260A6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619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Complete +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AF540-C3EF-4BF2-BCBC-EB6DFCD5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Socket.io presence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854D9-46DA-4BBC-90FC-133DAEB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Chat 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D416F-21F1-4BAF-A8BF-D0DA7B7B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WebRTC signaling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BEF5A-69F4-4FA4-9FBA-BE844E3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C1D95"/>
                </a:solidFill>
              </a:defRPr>
            </a:pPr>
            <a:r>
              <a:rPr sz="1650" b="1">
                <a:solidFill>
                  <a:srgbClr val="4C1D95"/>
                </a:solidFill>
              </a:rPr>
              <a:t>The visible button is simple. Behind it, the app coordinates appointment state, real-time rooms, notifications, and emergency signals.</a:t>
            </a:r>
          </a:p>
        </p:txBody>
      </p:sp>
    </p:spTree>
    <p:extLst>
      <p:ext uri="{BB962C8B-B14F-4D97-AF65-F5344CB8AC3E}">
        <p14:creationId xmlns:p14="http://schemas.microsoft.com/office/powerpoint/2010/main" val="80874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99755-914E-4EC5-B033-AFA781C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4FCEF-995A-4CFC-98FD-5192C341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FB1BE0B-F151-4B73-BCAE-AA3CEB71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SYSTEM ARCHITECTURE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D04CC0-4A37-493C-AE6A-6F18DE6B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Behind the interface is a modular service system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4F087C-87A0-4A8E-87C0-7BD0DFB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codebase mirrors the product: each domain has routes, controllers, services, models, validation, and types.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C3B59-28A7-4761-AB80-70CC13A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C6FAB-BD48-4870-B777-AF96762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React + Vite client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role guarded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FF42D-7BA6-42E7-9AD3-01C52CE3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DCE94-5AC9-4DED-B8ED-6FBA883F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Express API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module routers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D019A-CB4D-4479-A2F3-12F8AD94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CB236-76EA-4D83-B435-EB77AE4C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714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MongoDB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application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EF88F-5063-49C8-A4B6-BEC1D87B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714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Redis + BullMQ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jobs/reminders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016BB-CE0A-43AA-A2CA-4F8B9BA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619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Socket.io</a:t>
            </a:r>
          </a:p>
          <a:p xmlns:a="http://schemas.openxmlformats.org/drawingml/2006/main">
            <a:pPr algn="ctr">
              <a:defRPr sz="1200" b="1">
                <a:solidFill>
                  <a:srgbClr val="111631"/>
                </a:solidFill>
              </a:defRPr>
            </a:pPr>
            <a:r>
              <a:rPr sz="1200" b="1">
                <a:solidFill>
                  <a:srgbClr val="111631"/>
                </a:solidFill>
              </a:rPr>
              <a:t>presence/chat/video signaling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43BA5-4A7A-41BE-9337-B7132647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115E2-DF38-44E6-B1DF-0AEE30CC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7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84512-28A2-4A23-9E50-A29AC8CE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psychologist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A7756-01CF-4E80-9EED-F843FCF6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appointment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CCA0C-4FF0-4F03-9427-D33F911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453E7-CBB7-410E-8CDE-8C92F86D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E2CF4-AB08-4518-A229-30FF33D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chat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E2808-9A70-4AB9-A637-52EBD6A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720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assessment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DE3F7-FFD2-4433-9CC7-0773D893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720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82FD0-41E2-4888-B37C-61DF0B15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720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9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notification</a:t>
            </a:r>
          </a:p>
        </p:txBody>
      </p:sp>
    </p:spTree>
    <p:extLst>
      <p:ext uri="{BB962C8B-B14F-4D97-AF65-F5344CB8AC3E}">
        <p14:creationId xmlns:p14="http://schemas.microsoft.com/office/powerpoint/2010/main" val="842249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58D69-2D63-40FF-ABD5-1E067D42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3286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A87B1-6B08-4899-9A26-18160E3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2381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2FDDF9F-6317-4A3E-B0C6-2D629AF1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TAKEAWAY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FF0C78-D3D9-49BE-8446-47B7B93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631"/>
                </a:solidFill>
              </a:defRPr>
            </a:pPr>
            <a:r>
              <a:rPr sz="2700" b="1">
                <a:solidFill>
                  <a:srgbClr val="111631"/>
                </a:solidFill>
              </a:rPr>
              <a:t>The best UX hides complexity without hiding control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84E98C-7C1F-49E5-B1DD-026C68B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ManoBalamHealthCare becomes easier to explain when every role has a clear promise.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579F2-49D7-4258-B40E-D4875D67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02177-1AFE-4DA4-B705-D74CFC98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3143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3E0B-115D-4A42-81F6-439E12F1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65C28-5E40-4BED-B7F5-3A3B231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19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For patients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B9B6C-58D3-4D7F-8AB4-C19CABC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9875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guided path to support: assess, pay, join, continue care.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F758E-2B54-4B7F-B671-2E5D0BF9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D516A-2E28-4DF3-A2ED-03BD2059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7D7C5-4EDD-40EB-95E6-864B179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19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For psychologists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0524-FD0A-4C35-9D60-7E0E60FC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9875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focused workspace for profile, availability, sessions, notes, and earnings.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889F1-AACB-44BF-B581-B04B847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143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9D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E441F-A88C-48F7-B15B-BF0AB66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00C7F-25D5-4ED2-B874-C250278D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19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631"/>
                </a:solidFill>
              </a:defRPr>
            </a:pPr>
            <a:r>
              <a:rPr sz="1875" b="1">
                <a:solidFill>
                  <a:srgbClr val="111631"/>
                </a:solidFill>
              </a:rPr>
              <a:t>For admins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9067E-6603-47E0-A63F-9726DD8F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9875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control layer for safety, pricing, priority, reports, and operational quality.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EF1EA-D787-467C-B8F4-122074A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C1D95"/>
                </a:solidFill>
              </a:defRPr>
            </a:pPr>
            <a:r>
              <a:rPr sz="2100" b="1">
                <a:solidFill>
                  <a:srgbClr val="4C1D95"/>
                </a:solidFill>
              </a:rPr>
              <a:t>The product’s core idea is simple: make care easier to access while giving the organization enough visibility and control to run it responsibly.</a:t>
            </a:r>
          </a:p>
        </p:txBody>
      </p:sp>
    </p:spTree>
    <p:extLst>
      <p:ext uri="{BB962C8B-B14F-4D97-AF65-F5344CB8AC3E}">
        <p14:creationId xmlns:p14="http://schemas.microsoft.com/office/powerpoint/2010/main" val="1037206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2026-08-25T07:18:00.3050000Z</dcterms:created>
  <dcterms:modified xsi:type="dcterms:W3CDTF">2026-08-25T07:18:00.3050000Z</dcterms:modified>
</coreProperties>
</file>